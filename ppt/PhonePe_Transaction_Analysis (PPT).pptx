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4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24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AEB07-318D-4EFD-960F-7AF7826C36A1}" v="44" dt="2026-07-01T14:56:23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BCC5-FA7E-6EF3-4878-D3C4D1339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4B17-19E7-C95C-3F22-9D679DF35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49E4D-610B-6602-D343-6E46F98D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5295B-3331-BBFC-3884-5D9CF86A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59794-4AD3-BDEE-51F6-228E92ED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4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E438-CF07-382C-3303-C356E725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FC626-A6CC-942B-489D-4D82AAF3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1DB6-8A61-4110-3A90-CC9486BF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1D4A1-B6DB-264A-AE95-A262DC00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E973-470B-2BCA-A14C-C09D268B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2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F9BE-C10C-5100-5BF2-7DC761ED5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F505C-46BC-B1C1-3A04-9A8871F1B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FAA76-FDA7-7DF0-D783-C244F783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DBCF-8FAD-1E5F-B917-E0255F76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9416B-5DCD-E97E-A695-1E0A3C20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6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E4E7-0800-5AFB-49A6-C2AD8356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DC2A-ECC4-CE22-D3B2-1490EDF86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A670-6B1E-BDF6-DEC9-0B81909C3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4280C-EABC-A87C-4975-4D7BD0E8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F42E0-359E-F7CA-BBCC-6FC004FB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576AF-C8BB-9B6D-29D3-46615D54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154A-8FED-7176-A157-26934FBC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BE0E3-7A51-C338-30E4-D1EFB98AD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F24B-0A7B-26C2-BB29-02925B047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87F12-2C62-FF84-D817-DCB3E1CED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3B219-30E9-303B-AB16-9C48E0B21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7E39-9FF3-0366-5FB4-616E6A9A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A4599-0E1A-0708-3C87-3C8646A4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9C917-25AD-0442-5B30-00430A3F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0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1917-E3C4-9634-5B57-7A97AAA0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0ABDF-C67F-3388-7472-5DA1C7DB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BD0E2-F58E-0BB7-5505-A840671E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977F5-51C1-D4F0-71E3-88AE8CA5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1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BC51D-9522-9BEA-6F71-E46DEFFC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E6A0F-288B-4834-ECE3-63BDB89C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FAAB-5763-20F6-1735-42FA0FF5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9277-3535-CF37-8257-222E583D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E8DE-50B5-D9E5-767F-005F2B98E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CF4AC-4B5E-D390-B42F-975BA1A9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E7F92-6BC4-3425-58EA-A88D7F58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E9255-D501-361A-A8F2-BFF752F0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80C61-A8BF-1943-086C-E4B68881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5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9F46-C680-6F02-600C-0481C166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DB352-0F03-067E-9689-CA7BB0DB5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EE36B-8D91-6676-A893-13B3D6B4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AF30E-8D36-6B8A-F262-5713A89C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13DAB-F406-5CF1-2EC0-3E5BEB4B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FE4D4-A2AE-841A-DE53-6CCB3EAA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7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10CB-05DC-51B2-D008-6DC6854E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ACC0E-3570-38DF-C4DF-29F4AA19A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ACB1-57EA-22EA-4F51-17666C6E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8955-6F6A-92F6-5D44-92FE1B0E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094DA-1474-3707-E48F-197D7998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6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CAED0-7789-5742-6EF3-3448B063E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7AE77-9958-E022-54B1-F47EECCE0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F3FC-6B0A-A4D6-6083-AA5D9B11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F087A-B783-25AD-1E5E-48668907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D54E6-C93C-8BC1-553C-8ACD6E70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4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701AA-79F3-89AB-70BC-55B3F4A4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FA3DC-C6AB-7104-12CE-9737A7DC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0BDBC-E074-D3B4-6C8A-A0A93AB67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65091-C1E8-4E58-9B91-3F67F32B7FEF}" type="datetimeFigureOut">
              <a:rPr lang="en-US" smtClean="0"/>
              <a:t>2026-06-30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0824B-0975-5651-4A37-CEED28CC8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FFBC1-B145-324F-107E-22AD3DB21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9C38A-062A-450B-AD54-06A73B94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1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24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78A75E-FF68-CB2C-CD7B-D025B48B0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53" y="505097"/>
            <a:ext cx="11155824" cy="4772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E208DA-4B89-09CF-2E1F-1D01F504E777}"/>
              </a:ext>
            </a:extLst>
          </p:cNvPr>
          <p:cNvSpPr txBox="1"/>
          <p:nvPr/>
        </p:nvSpPr>
        <p:spPr>
          <a:xfrm>
            <a:off x="3711102" y="3886359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PhonePe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 Transaction &amp; User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AB555-BCFE-AE48-0833-42001F57A2FD}"/>
              </a:ext>
            </a:extLst>
          </p:cNvPr>
          <p:cNvSpPr txBox="1"/>
          <p:nvPr/>
        </p:nvSpPr>
        <p:spPr>
          <a:xfrm>
            <a:off x="9428534" y="5155659"/>
            <a:ext cx="32514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Apponix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 Academy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( Capstone Project 2 )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Name   :  M Adithya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Guide   :  Azra Ma’am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erlin Sans FB" panose="020E0602020502020306" pitchFamily="34" charset="0"/>
              </a:rPr>
              <a:t>Date    :  25-06-2026</a:t>
            </a:r>
          </a:p>
        </p:txBody>
      </p:sp>
    </p:spTree>
    <p:extLst>
      <p:ext uri="{BB962C8B-B14F-4D97-AF65-F5344CB8AC3E}">
        <p14:creationId xmlns:p14="http://schemas.microsoft.com/office/powerpoint/2010/main" val="211732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C3AA-C9D1-0965-9FBD-CD1F7086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AC6380-8965-3CB4-82C1-3BBFF9311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EC3C117-BE80-9D94-3AF0-D8784505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966" y="688063"/>
            <a:ext cx="7840295" cy="12236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Problem Statement</a:t>
            </a:r>
            <a:br>
              <a:rPr lang="en-US" dirty="0"/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1DE68-0DE5-A2E1-A944-8A855EFBFECA}"/>
              </a:ext>
            </a:extLst>
          </p:cNvPr>
          <p:cNvSpPr txBox="1"/>
          <p:nvPr/>
        </p:nvSpPr>
        <p:spPr>
          <a:xfrm>
            <a:off x="564204" y="1997839"/>
            <a:ext cx="92218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800" b="1" dirty="0"/>
              <a:t>This project aims to: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 </a:t>
            </a:r>
            <a:r>
              <a:rPr lang="en-US" sz="2000" dirty="0" err="1"/>
              <a:t>PhonePe</a:t>
            </a:r>
            <a:r>
              <a:rPr lang="en-US" sz="2000" dirty="0"/>
              <a:t> transaction trends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Understand user engagement patterns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Track growth in digital payments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 business decision-making using SQL, Python, and Power BI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4AA9AC-7C14-8BAD-2C8B-1DB8B92EA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692613"/>
            <a:ext cx="1216591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35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B7B3-E590-0F52-51D7-C443A816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997"/>
            <a:ext cx="10515600" cy="895691"/>
          </a:xfrm>
        </p:spPr>
        <p:txBody>
          <a:bodyPr/>
          <a:lstStyle/>
          <a:p>
            <a:pPr algn="ctr"/>
            <a:r>
              <a:rPr lang="en-US" b="1" dirty="0"/>
              <a:t>Key 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7C7F4-812F-A89F-D7C3-5453016CD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CB59E3-C86F-5546-E116-79209CC0B7E3}"/>
              </a:ext>
            </a:extLst>
          </p:cNvPr>
          <p:cNvSpPr txBox="1"/>
          <p:nvPr/>
        </p:nvSpPr>
        <p:spPr>
          <a:xfrm>
            <a:off x="544749" y="2247089"/>
            <a:ext cx="86940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1.Which state has the highest transaction value? </a:t>
            </a:r>
          </a:p>
          <a:p>
            <a:endParaRPr lang="en-US" dirty="0"/>
          </a:p>
          <a:p>
            <a:r>
              <a:rPr lang="en-US" dirty="0"/>
              <a:t>2.Which state has the highest transaction count?</a:t>
            </a:r>
          </a:p>
          <a:p>
            <a:endParaRPr lang="en-US" dirty="0"/>
          </a:p>
          <a:p>
            <a:r>
              <a:rPr lang="en-US" dirty="0"/>
              <a:t> 3.How have transactions grown over time? </a:t>
            </a:r>
          </a:p>
          <a:p>
            <a:endParaRPr lang="en-US" dirty="0"/>
          </a:p>
          <a:p>
            <a:r>
              <a:rPr lang="en-US" dirty="0"/>
              <a:t>4.Which districts contribute most to digital payments?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5.Which payment categories dominate transactions?</a:t>
            </a:r>
          </a:p>
          <a:p>
            <a:endParaRPr lang="en-US" dirty="0"/>
          </a:p>
          <a:p>
            <a:r>
              <a:rPr lang="en-US" dirty="0"/>
              <a:t> 6.Which states have the highest user engagement? </a:t>
            </a:r>
          </a:p>
          <a:p>
            <a:endParaRPr lang="en-US" dirty="0"/>
          </a:p>
          <a:p>
            <a:r>
              <a:rPr lang="en-US" dirty="0"/>
              <a:t>7.How does user growth vary across regions? </a:t>
            </a:r>
          </a:p>
          <a:p>
            <a:endParaRPr lang="en-US" dirty="0"/>
          </a:p>
          <a:p>
            <a:r>
              <a:rPr lang="en-US" dirty="0"/>
              <a:t>8.Which areas should </a:t>
            </a:r>
            <a:r>
              <a:rPr lang="en-US" dirty="0" err="1"/>
              <a:t>PhonePe</a:t>
            </a:r>
            <a:r>
              <a:rPr lang="en-US" dirty="0"/>
              <a:t> focus on for expansion?3.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C6CDB2-B5DA-6AC1-DE54-B4A62A988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1984443"/>
            <a:ext cx="12192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84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2C4C2-5D69-05BC-F93C-2871FF38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2D0888-3B42-A940-DD27-5B7E65CD3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AD27C1-EC6F-305C-A864-C20ADD770084}"/>
              </a:ext>
            </a:extLst>
          </p:cNvPr>
          <p:cNvSpPr txBox="1"/>
          <p:nvPr/>
        </p:nvSpPr>
        <p:spPr>
          <a:xfrm>
            <a:off x="187258" y="792964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68EB1-6215-577F-8C44-1588516A3D07}"/>
              </a:ext>
            </a:extLst>
          </p:cNvPr>
          <p:cNvSpPr txBox="1"/>
          <p:nvPr/>
        </p:nvSpPr>
        <p:spPr>
          <a:xfrm>
            <a:off x="345331" y="2228671"/>
            <a:ext cx="6138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Phonepe</a:t>
            </a:r>
            <a:r>
              <a:rPr lang="en-US" sz="2400" b="1" dirty="0"/>
              <a:t> -Final-Dataset 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743B00-F263-9906-B076-FCCC7B894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1770434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49E34B-6925-59C4-2AF1-E25178BBAEBC}"/>
              </a:ext>
            </a:extLst>
          </p:cNvPr>
          <p:cNvSpPr txBox="1"/>
          <p:nvPr/>
        </p:nvSpPr>
        <p:spPr>
          <a:xfrm>
            <a:off x="393970" y="3610238"/>
            <a:ext cx="84776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effectLst/>
                <a:latin typeface="Google Sans Text"/>
              </a:rPr>
              <a:t>All_Users</a:t>
            </a:r>
            <a:r>
              <a:rPr lang="en-US" b="1" dirty="0">
                <a:effectLst/>
                <a:latin typeface="Google Sans Text"/>
              </a:rPr>
              <a:t> :</a:t>
            </a:r>
            <a:r>
              <a:rPr lang="en-US" dirty="0">
                <a:effectLst/>
                <a:latin typeface="Google Sans Text"/>
              </a:rPr>
              <a:t> 107,658 user profiles (ID, Name, Age, Join Date) </a:t>
            </a:r>
          </a:p>
          <a:p>
            <a:pPr>
              <a:buNone/>
            </a:pPr>
            <a:endParaRPr lang="en-US" dirty="0">
              <a:effectLst/>
              <a:latin typeface="Google Sans Text"/>
            </a:endParaRPr>
          </a:p>
          <a:p>
            <a:pPr>
              <a:buNone/>
            </a:pPr>
            <a:r>
              <a:rPr lang="en-US" b="1" dirty="0" err="1">
                <a:effectLst/>
                <a:latin typeface="Google Sans Text"/>
              </a:rPr>
              <a:t>All_Transactions</a:t>
            </a:r>
            <a:r>
              <a:rPr lang="en-US" b="1" dirty="0">
                <a:effectLst/>
                <a:latin typeface="Google Sans Text"/>
              </a:rPr>
              <a:t> :</a:t>
            </a:r>
            <a:r>
              <a:rPr lang="en-US" dirty="0">
                <a:effectLst/>
                <a:latin typeface="Google Sans Text"/>
              </a:rPr>
              <a:t> 300,000 transaction records spanning 12 descriptive attributes </a:t>
            </a:r>
          </a:p>
          <a:p>
            <a:pPr>
              <a:buNone/>
            </a:pPr>
            <a:endParaRPr lang="en-US" dirty="0">
              <a:effectLst/>
              <a:latin typeface="Google Sans Text"/>
            </a:endParaRPr>
          </a:p>
          <a:p>
            <a:pPr>
              <a:buNone/>
            </a:pPr>
            <a:r>
              <a:rPr lang="en-US" b="1" dirty="0" err="1">
                <a:effectLst/>
                <a:latin typeface="Google Sans Text"/>
              </a:rPr>
              <a:t>Money_Transfer</a:t>
            </a:r>
            <a:r>
              <a:rPr lang="en-US" b="1" dirty="0">
                <a:effectLst/>
                <a:latin typeface="Google Sans Text"/>
              </a:rPr>
              <a:t> :</a:t>
            </a:r>
            <a:r>
              <a:rPr lang="en-US" dirty="0">
                <a:effectLst/>
                <a:latin typeface="Google Sans Text"/>
              </a:rPr>
              <a:t> 150,000 records capturing specific transfer dynamics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381C1B-7CAB-C656-8D01-BF36D488B28A}"/>
              </a:ext>
            </a:extLst>
          </p:cNvPr>
          <p:cNvSpPr txBox="1"/>
          <p:nvPr/>
        </p:nvSpPr>
        <p:spPr>
          <a:xfrm>
            <a:off x="379378" y="2822217"/>
            <a:ext cx="6138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 Relational Sheets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5C6032-2410-EB8D-5B01-83AF3DFB3219}"/>
              </a:ext>
            </a:extLst>
          </p:cNvPr>
          <p:cNvSpPr txBox="1"/>
          <p:nvPr/>
        </p:nvSpPr>
        <p:spPr>
          <a:xfrm>
            <a:off x="345331" y="5328844"/>
            <a:ext cx="11395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Executed structural data connections between user profile demographics (</a:t>
            </a:r>
            <a:r>
              <a:rPr lang="en-US" sz="2000" dirty="0" err="1">
                <a:latin typeface="Courier New" panose="02070309020205020404" pitchFamily="49" charset="0"/>
              </a:rPr>
              <a:t>All_Users</a:t>
            </a:r>
            <a:r>
              <a:rPr lang="en-US" sz="2000" dirty="0"/>
              <a:t>) and transaction activities (</a:t>
            </a:r>
            <a:r>
              <a:rPr lang="en-US" sz="2000" dirty="0" err="1">
                <a:latin typeface="Courier New" panose="02070309020205020404" pitchFamily="49" charset="0"/>
              </a:rPr>
              <a:t>All_Transactions</a:t>
            </a:r>
            <a:r>
              <a:rPr lang="en-US" sz="2000" dirty="0"/>
              <a:t>) utilizing the unique </a:t>
            </a:r>
            <a:r>
              <a:rPr lang="en-US" sz="2000" dirty="0" err="1">
                <a:latin typeface="Courier New" panose="02070309020205020404" pitchFamily="49" charset="0"/>
              </a:rPr>
              <a:t>User_ID</a:t>
            </a:r>
            <a:r>
              <a:rPr lang="en-US" sz="2000" dirty="0"/>
              <a:t> relational key to achieve a comprehensive master dataset. </a:t>
            </a:r>
          </a:p>
        </p:txBody>
      </p:sp>
    </p:spTree>
    <p:extLst>
      <p:ext uri="{BB962C8B-B14F-4D97-AF65-F5344CB8AC3E}">
        <p14:creationId xmlns:p14="http://schemas.microsoft.com/office/powerpoint/2010/main" val="178548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3634-5521-5991-144B-1D4E1C00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2ACF02-CED5-0356-0183-F036DF581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E26F91-5687-FA65-5F43-CA8F01E1A9EA}"/>
              </a:ext>
            </a:extLst>
          </p:cNvPr>
          <p:cNvSpPr txBox="1"/>
          <p:nvPr/>
        </p:nvSpPr>
        <p:spPr>
          <a:xfrm>
            <a:off x="2295727" y="335763"/>
            <a:ext cx="8353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Cleaning &amp; Preprocessing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66176-2394-5AB1-E9CC-8D46A752043D}"/>
              </a:ext>
            </a:extLst>
          </p:cNvPr>
          <p:cNvSpPr txBox="1"/>
          <p:nvPr/>
        </p:nvSpPr>
        <p:spPr>
          <a:xfrm>
            <a:off x="494491" y="1536091"/>
            <a:ext cx="609437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Excel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Removed duplicates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Standardized column names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Checked missing values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Corrected data types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4EF30-91EF-E545-77BE-CF0670563436}"/>
              </a:ext>
            </a:extLst>
          </p:cNvPr>
          <p:cNvSpPr txBox="1"/>
          <p:nvPr/>
        </p:nvSpPr>
        <p:spPr>
          <a:xfrm>
            <a:off x="378162" y="5383297"/>
            <a:ext cx="609437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Result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1800" dirty="0"/>
              <a:t>No Missing Values, Clean Dataset , Ready for Analysis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2A429-F2C2-1CF9-E1F5-7BC2465A2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6082" y="1099226"/>
            <a:ext cx="12062965" cy="875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09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C7A1D-A59C-5E1D-6E24-392803CF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2B287B-E2F5-B615-6FFD-F233D28A4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E70241-DA6B-59C7-6EC0-9C0574705450}"/>
              </a:ext>
            </a:extLst>
          </p:cNvPr>
          <p:cNvSpPr txBox="1"/>
          <p:nvPr/>
        </p:nvSpPr>
        <p:spPr>
          <a:xfrm>
            <a:off x="381810" y="1575136"/>
            <a:ext cx="609437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PostgreSQL Concepts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Aggregate Functions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GROUP BY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CASE Statements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Views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Window Functions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Ranking Functions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Joins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F1B8F-89C3-F61A-34C0-ECF477B7AA7F}"/>
              </a:ext>
            </a:extLst>
          </p:cNvPr>
          <p:cNvSpPr txBox="1"/>
          <p:nvPr/>
        </p:nvSpPr>
        <p:spPr>
          <a:xfrm>
            <a:off x="2803997" y="220310"/>
            <a:ext cx="60943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SQL Concepts Used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5B221-E729-A225-6FD8-68C9A1BF2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6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C5DC1-14D8-45C7-1FAF-275EF497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9E053-2325-B4A4-564E-236755C9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D7F9C-E237-6223-0DB9-42DB3A8AB9C1}"/>
              </a:ext>
            </a:extLst>
          </p:cNvPr>
          <p:cNvSpPr txBox="1"/>
          <p:nvPr/>
        </p:nvSpPr>
        <p:spPr>
          <a:xfrm>
            <a:off x="2765087" y="263712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Python EDA Insights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2DF0DF-9C3E-E325-B253-4BA1936E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400783"/>
            <a:ext cx="121398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A87892-DE5E-520B-C7F9-044FEEF91AB6}"/>
              </a:ext>
            </a:extLst>
          </p:cNvPr>
          <p:cNvSpPr txBox="1"/>
          <p:nvPr/>
        </p:nvSpPr>
        <p:spPr>
          <a:xfrm>
            <a:off x="408562" y="2052544"/>
            <a:ext cx="873300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  <a:latin typeface="Google Sans Text"/>
              </a:rPr>
              <a:t>Overall Metrics:</a:t>
            </a:r>
          </a:p>
          <a:p>
            <a:pPr>
              <a:buNone/>
            </a:pPr>
            <a:r>
              <a:rPr lang="en-US" dirty="0">
                <a:effectLst/>
                <a:latin typeface="Google Sans Text"/>
              </a:rPr>
              <a:t> </a:t>
            </a:r>
            <a:r>
              <a:rPr lang="en-US" sz="2400" dirty="0">
                <a:effectLst/>
                <a:latin typeface="Google Sans Text"/>
              </a:rPr>
              <a:t>Analyzed over 300,000 baseline interactions across multiple transactional modes. </a:t>
            </a:r>
          </a:p>
          <a:p>
            <a:pPr>
              <a:buNone/>
            </a:pPr>
            <a:endParaRPr lang="en-US" sz="2400" dirty="0">
              <a:effectLst/>
              <a:latin typeface="Google Sans Text"/>
            </a:endParaRPr>
          </a:p>
          <a:p>
            <a:pPr>
              <a:buNone/>
            </a:pPr>
            <a:r>
              <a:rPr lang="en-US" sz="2800" b="1" dirty="0">
                <a:effectLst/>
                <a:latin typeface="Google Sans Text"/>
              </a:rPr>
              <a:t>Status Distribution:</a:t>
            </a:r>
            <a:r>
              <a:rPr lang="en-US" sz="2800" dirty="0">
                <a:effectLst/>
                <a:latin typeface="Google Sans Text"/>
              </a:rPr>
              <a:t> </a:t>
            </a:r>
          </a:p>
          <a:p>
            <a:pPr>
              <a:buNone/>
            </a:pPr>
            <a:r>
              <a:rPr lang="en-US" sz="2400" dirty="0">
                <a:effectLst/>
                <a:latin typeface="Google Sans Text"/>
              </a:rPr>
              <a:t>The vast majority of payment requests conclude successfully, with controlled drops attributed to specific system bottlenecks. </a:t>
            </a:r>
          </a:p>
          <a:p>
            <a:pPr>
              <a:buNone/>
            </a:pPr>
            <a:endParaRPr lang="en-US" sz="2400" dirty="0">
              <a:effectLst/>
              <a:latin typeface="Google Sans Text"/>
            </a:endParaRPr>
          </a:p>
          <a:p>
            <a:pPr>
              <a:buNone/>
            </a:pPr>
            <a:r>
              <a:rPr lang="en-US" sz="2800" b="1" dirty="0">
                <a:effectLst/>
                <a:latin typeface="Google Sans Text"/>
              </a:rPr>
              <a:t>Core Channels:</a:t>
            </a:r>
          </a:p>
          <a:p>
            <a:pPr>
              <a:buNone/>
            </a:pPr>
            <a:r>
              <a:rPr lang="en-US" sz="2400" dirty="0">
                <a:effectLst/>
                <a:latin typeface="Google Sans Text"/>
              </a:rPr>
              <a:t> "To UPI ID" and "To Self Account" present leading transaction counts among digital money transfers. </a:t>
            </a:r>
          </a:p>
        </p:txBody>
      </p:sp>
    </p:spTree>
    <p:extLst>
      <p:ext uri="{BB962C8B-B14F-4D97-AF65-F5344CB8AC3E}">
        <p14:creationId xmlns:p14="http://schemas.microsoft.com/office/powerpoint/2010/main" val="132588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C7A7D-8FC4-B717-B66F-E2F82921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1C38B8-565C-EE26-D555-DF0384A9F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B3542-1D27-160B-AC45-6D6E81011038}"/>
              </a:ext>
            </a:extLst>
          </p:cNvPr>
          <p:cNvSpPr txBox="1"/>
          <p:nvPr/>
        </p:nvSpPr>
        <p:spPr>
          <a:xfrm>
            <a:off x="2373549" y="126250"/>
            <a:ext cx="7779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Dashboard Demonstration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A58465-52A8-A1FA-6865-6314B8F07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082" y="1284051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D054C4-4106-04E3-4FF0-1CD6F1DDEB0C}"/>
              </a:ext>
            </a:extLst>
          </p:cNvPr>
          <p:cNvSpPr txBox="1"/>
          <p:nvPr/>
        </p:nvSpPr>
        <p:spPr>
          <a:xfrm>
            <a:off x="301557" y="2086742"/>
            <a:ext cx="705498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Important KPIs</a:t>
            </a:r>
          </a:p>
          <a:p>
            <a:endParaRPr lang="en-US" sz="3200" dirty="0"/>
          </a:p>
          <a:p>
            <a:r>
              <a:rPr lang="en-US" sz="3200" dirty="0"/>
              <a:t>1.Total Transaction Value </a:t>
            </a:r>
          </a:p>
          <a:p>
            <a:r>
              <a:rPr lang="en-US" sz="3200" dirty="0"/>
              <a:t>2.Total Transactions </a:t>
            </a:r>
          </a:p>
          <a:p>
            <a:r>
              <a:rPr lang="en-US" sz="3200" dirty="0"/>
              <a:t>3.Average Transaction Value </a:t>
            </a:r>
          </a:p>
          <a:p>
            <a:r>
              <a:rPr lang="en-US" sz="3200" dirty="0"/>
              <a:t>4.Active Users </a:t>
            </a:r>
          </a:p>
          <a:p>
            <a:r>
              <a:rPr lang="en-US" sz="3200" dirty="0"/>
              <a:t>5.Failed Transaction Value</a:t>
            </a:r>
          </a:p>
        </p:txBody>
      </p:sp>
    </p:spTree>
    <p:extLst>
      <p:ext uri="{BB962C8B-B14F-4D97-AF65-F5344CB8AC3E}">
        <p14:creationId xmlns:p14="http://schemas.microsoft.com/office/powerpoint/2010/main" val="347726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37D4-BE5D-8D1D-8D18-9B1CF416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B999F4-CB6E-AFBC-0A2F-2926675B6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E64621-6F2E-EA34-E04B-704E876F0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5918" cy="684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0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70B4-E941-86DE-5C43-F954CE01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6C0974-9D52-E92D-125C-633A12655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0144BD-3A57-EBB3-017E-A48CC9343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C1AA52-CAE8-CFD3-8999-34799F255BEE}"/>
              </a:ext>
            </a:extLst>
          </p:cNvPr>
          <p:cNvSpPr txBox="1"/>
          <p:nvPr/>
        </p:nvSpPr>
        <p:spPr>
          <a:xfrm>
            <a:off x="3193105" y="480777"/>
            <a:ext cx="61527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Dashboard 1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7CF27-54E6-BFAE-6399-7446275C5B04}"/>
              </a:ext>
            </a:extLst>
          </p:cNvPr>
          <p:cNvSpPr txBox="1"/>
          <p:nvPr/>
        </p:nvSpPr>
        <p:spPr>
          <a:xfrm>
            <a:off x="0" y="2140086"/>
            <a:ext cx="74513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KPI Cards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Total transaction by month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Payment status by service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Transportation by age group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Transaction value by service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 Slicers </a:t>
            </a:r>
          </a:p>
        </p:txBody>
      </p:sp>
    </p:spTree>
    <p:extLst>
      <p:ext uri="{BB962C8B-B14F-4D97-AF65-F5344CB8AC3E}">
        <p14:creationId xmlns:p14="http://schemas.microsoft.com/office/powerpoint/2010/main" val="381379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F8D8-F633-56AC-EBA5-5704F6A8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2CBFE4C-DE84-60AF-4FCA-828AB3D0D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B56912-E976-6A7C-ED43-94C026B04975}"/>
              </a:ext>
            </a:extLst>
          </p:cNvPr>
          <p:cNvSpPr txBox="1"/>
          <p:nvPr/>
        </p:nvSpPr>
        <p:spPr>
          <a:xfrm>
            <a:off x="2704289" y="525325"/>
            <a:ext cx="6646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Dashboard Demonstration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DC1AE-8E49-D6C8-5D9C-932BDA749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60450-0B87-801F-7D30-9EE60403C4A2}"/>
              </a:ext>
            </a:extLst>
          </p:cNvPr>
          <p:cNvSpPr txBox="1"/>
          <p:nvPr/>
        </p:nvSpPr>
        <p:spPr>
          <a:xfrm>
            <a:off x="299125" y="1931100"/>
            <a:ext cx="610410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Important KPIs</a:t>
            </a:r>
          </a:p>
          <a:p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MT Total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MT Total Count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MT Avg Transfer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MT Active Senders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MT Failed value</a:t>
            </a:r>
          </a:p>
          <a:p>
            <a:endParaRPr lang="en-US" sz="1800" b="1" dirty="0"/>
          </a:p>
          <a:p>
            <a:endParaRPr lang="en-US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5361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D234-759C-89E1-A78F-08765CF0C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CCF53F-3C2E-6CA4-2DDE-CABECE73C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037CD4-B303-63FD-B9B5-0E461D089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30" y="0"/>
            <a:ext cx="12198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2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1F21-A85B-3213-C08B-751D2844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0A1E5C-381C-E384-8829-3836B8292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281362-2D26-FB08-DCB2-8A386F7D0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283047-B0FA-292E-1657-88D2A7E027E8}"/>
              </a:ext>
            </a:extLst>
          </p:cNvPr>
          <p:cNvSpPr txBox="1"/>
          <p:nvPr/>
        </p:nvSpPr>
        <p:spPr>
          <a:xfrm>
            <a:off x="2633764" y="447845"/>
            <a:ext cx="61041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Dashboard 2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C810F-D5E5-F173-FFD1-30F535FE9813}"/>
              </a:ext>
            </a:extLst>
          </p:cNvPr>
          <p:cNvSpPr txBox="1"/>
          <p:nvPr/>
        </p:nvSpPr>
        <p:spPr>
          <a:xfrm>
            <a:off x="26082" y="2760265"/>
            <a:ext cx="78435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KPI Cards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Monthly volume Trend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MT Total Value by Transfer Type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Age wise Active Senders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3600" dirty="0"/>
              <a:t>Slicers </a:t>
            </a:r>
          </a:p>
        </p:txBody>
      </p:sp>
    </p:spTree>
    <p:extLst>
      <p:ext uri="{BB962C8B-B14F-4D97-AF65-F5344CB8AC3E}">
        <p14:creationId xmlns:p14="http://schemas.microsoft.com/office/powerpoint/2010/main" val="386498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3B3E-E3D2-8B06-3DF2-884BC81C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CAD1C0-999D-323D-5CEA-79B54BB54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41FE5-6B1C-5BD8-B6FD-4115ACAA39CD}"/>
              </a:ext>
            </a:extLst>
          </p:cNvPr>
          <p:cNvSpPr txBox="1"/>
          <p:nvPr/>
        </p:nvSpPr>
        <p:spPr>
          <a:xfrm>
            <a:off x="2155964" y="510970"/>
            <a:ext cx="79061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Business Recommendations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7D98EE-07F4-06EA-31CD-BC402DF3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031EF3-7C52-AC34-B1F7-097A195B25D9}"/>
              </a:ext>
            </a:extLst>
          </p:cNvPr>
          <p:cNvSpPr txBox="1"/>
          <p:nvPr/>
        </p:nvSpPr>
        <p:spPr>
          <a:xfrm>
            <a:off x="291829" y="2164138"/>
            <a:ext cx="109436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Improve failed payment handling.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Promote high-value transfer methods.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Optimize services with lower usage.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Increase engagement among low-activity age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Strengthen fraud monitoring.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Enhance customer support for failed transactions.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Introduce targeted cashback campaigns.</a:t>
            </a:r>
          </a:p>
        </p:txBody>
      </p:sp>
    </p:spTree>
    <p:extLst>
      <p:ext uri="{BB962C8B-B14F-4D97-AF65-F5344CB8AC3E}">
        <p14:creationId xmlns:p14="http://schemas.microsoft.com/office/powerpoint/2010/main" val="279349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0BDE-8D99-0B22-9AB2-6C796AF2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ACAD01-B2EE-27FA-7A31-AD102AF04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" y="0"/>
            <a:ext cx="1403884" cy="8956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05A148-DB4A-BAA2-5B5A-ABF7431C8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082" y="1235413"/>
            <a:ext cx="1216591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509A44-0D07-9812-06B1-9C54AE858D79}"/>
              </a:ext>
            </a:extLst>
          </p:cNvPr>
          <p:cNvSpPr txBox="1"/>
          <p:nvPr/>
        </p:nvSpPr>
        <p:spPr>
          <a:xfrm>
            <a:off x="3304972" y="465972"/>
            <a:ext cx="61041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Achievements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E4D6A-9B40-EA53-17DC-3BBE3CC418ED}"/>
              </a:ext>
            </a:extLst>
          </p:cNvPr>
          <p:cNvSpPr txBox="1"/>
          <p:nvPr/>
        </p:nvSpPr>
        <p:spPr>
          <a:xfrm>
            <a:off x="513134" y="2317895"/>
            <a:ext cx="61041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Excel Data Cleaning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PostgreSQL Analysis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SQL Queries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Python EDA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Power BI Dashboard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952073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2B6F-C9BA-C950-E56F-58B750E5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EB22464-7BA8-BEAF-BE56-B72FF21B7B59}"/>
              </a:ext>
            </a:extLst>
          </p:cNvPr>
          <p:cNvSpPr/>
          <p:nvPr/>
        </p:nvSpPr>
        <p:spPr>
          <a:xfrm>
            <a:off x="2538920" y="223735"/>
            <a:ext cx="6926094" cy="6488349"/>
          </a:xfrm>
          <a:prstGeom prst="flowChartConnector">
            <a:avLst/>
          </a:prstGeom>
          <a:solidFill>
            <a:srgbClr val="6024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04C7E-81D2-0D97-6A31-C140FF0FBF97}"/>
              </a:ext>
            </a:extLst>
          </p:cNvPr>
          <p:cNvSpPr txBox="1"/>
          <p:nvPr/>
        </p:nvSpPr>
        <p:spPr>
          <a:xfrm>
            <a:off x="3696511" y="2767280"/>
            <a:ext cx="50097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Brush Script MT" panose="03060802040406070304" pitchFamily="66" charset="0"/>
              </a:rPr>
              <a:t>Thank you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CD801-3E98-4D7B-9143-801B4DE5177E}"/>
              </a:ext>
            </a:extLst>
          </p:cNvPr>
          <p:cNvSpPr txBox="1"/>
          <p:nvPr/>
        </p:nvSpPr>
        <p:spPr>
          <a:xfrm>
            <a:off x="10878767" y="6488668"/>
            <a:ext cx="111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iller" panose="04020404031007020602" pitchFamily="82" charset="0"/>
              </a:rPr>
              <a:t>- ADITHYA</a:t>
            </a:r>
          </a:p>
        </p:txBody>
      </p:sp>
    </p:spTree>
    <p:extLst>
      <p:ext uri="{BB962C8B-B14F-4D97-AF65-F5344CB8AC3E}">
        <p14:creationId xmlns:p14="http://schemas.microsoft.com/office/powerpoint/2010/main" val="398283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484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Arial</vt:lpstr>
      <vt:lpstr>Arial Black</vt:lpstr>
      <vt:lpstr>Arial Rounded MT Bold</vt:lpstr>
      <vt:lpstr>Berlin Sans FB</vt:lpstr>
      <vt:lpstr>Brush Script MT</vt:lpstr>
      <vt:lpstr>Chiller</vt:lpstr>
      <vt:lpstr>Courier New</vt:lpstr>
      <vt:lpstr>Google Sans Text</vt:lpstr>
      <vt:lpstr>Office Theme</vt:lpstr>
      <vt:lpstr>PowerPoint Presentation</vt:lpstr>
      <vt:lpstr>Problem Statement </vt:lpstr>
      <vt:lpstr>Key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adithyama9168@outlook.com</dc:creator>
  <cp:lastModifiedBy>adithyama9168@outlook.com</cp:lastModifiedBy>
  <cp:revision>2</cp:revision>
  <dcterms:created xsi:type="dcterms:W3CDTF">2026-06-25T18:10:24Z</dcterms:created>
  <dcterms:modified xsi:type="dcterms:W3CDTF">2026-07-01T14:58:53Z</dcterms:modified>
</cp:coreProperties>
</file>